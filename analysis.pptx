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371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36576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Технічний збій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травня 2024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BD5E1"/>
                </a:solidFill>
              </a:rPr>
              <a:t>Оцінка втрат виручки та аналіз факторів впливу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502920"/>
            <a:ext cx="2834640" cy="11887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5943600" y="50292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6035040" y="548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8 720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35040" y="1005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9488"/>
                </a:solidFill>
              </a:rPr>
              <a:t>$/день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1252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Середня виручка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ДО збою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920240"/>
            <a:ext cx="2834640" cy="11887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Shape 12"/>
          <p:cNvSpPr/>
          <p:nvPr/>
        </p:nvSpPr>
        <p:spPr>
          <a:xfrm>
            <a:off x="5943600" y="1920240"/>
            <a:ext cx="64008" cy="118872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603504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7 631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3504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9488"/>
                </a:solidFill>
              </a:rPr>
              <a:t>$/день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Середня виручка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ПІСЛЯ збою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0" y="3337560"/>
            <a:ext cx="2834640" cy="11887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9" name="Shape 17"/>
          <p:cNvSpPr/>
          <p:nvPr/>
        </p:nvSpPr>
        <p:spPr>
          <a:xfrm>
            <a:off x="5943600" y="333756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603504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9 070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3504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9488"/>
                </a:solidFill>
              </a:rPr>
              <a:t>$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4087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Чистий ефект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збою (16 днів)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</a:rPr>
              <a:t>ЗМІСТ ПРЕЗЕНТАЦІЇ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0" cy="109728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A5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698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Загальна картина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4356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Виручка, транзакції, юзери — тренди за весь період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640080" cy="109728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365760" y="2258568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A5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3682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Статус транзакцій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7340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Fail rate до та після збою, розподіл по статусам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sp>
        <p:nvSpPr>
          <p:cNvPr id="15" name="Shape 13"/>
          <p:cNvSpPr/>
          <p:nvPr/>
        </p:nvSpPr>
        <p:spPr>
          <a:xfrm>
            <a:off x="365760" y="3557016"/>
            <a:ext cx="640080" cy="109728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365760" y="3557016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A5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666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Фактори впливу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325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Спліт-тест, реліз OS, нові юзери, зміна </a:t>
            </a:r>
            <a:r>
              <a:rPr lang="en-US" sz="1000" dirty="0" err="1">
                <a:solidFill>
                  <a:srgbClr val="64748B"/>
                </a:solidFill>
              </a:rPr>
              <a:t>логіки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листів</a:t>
            </a:r>
            <a:r>
              <a:rPr lang="uk-UA" sz="1000" dirty="0">
                <a:solidFill>
                  <a:srgbClr val="64748B"/>
                </a:solidFill>
              </a:rPr>
              <a:t>,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uk-UA" sz="1000" dirty="0">
                <a:solidFill>
                  <a:srgbClr val="64748B"/>
                </a:solidFill>
              </a:rPr>
              <a:t>скорчення команди підтримки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640080" cy="109728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4846320" y="9601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A5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10698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Оцінка втрат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14356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Baseline-методи, ізоляція ефекту збою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58568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5" name="Shape 23"/>
          <p:cNvSpPr/>
          <p:nvPr/>
        </p:nvSpPr>
        <p:spPr>
          <a:xfrm>
            <a:off x="4846320" y="2258568"/>
            <a:ext cx="640080" cy="109728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6" name="Text 24"/>
          <p:cNvSpPr/>
          <p:nvPr/>
        </p:nvSpPr>
        <p:spPr>
          <a:xfrm>
            <a:off x="4846320" y="2258568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A5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77840" y="23682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Сегментний аналіз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27340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Fail rate по OS, трафіку, регіонах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57016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0" name="Shape 28"/>
          <p:cNvSpPr/>
          <p:nvPr/>
        </p:nvSpPr>
        <p:spPr>
          <a:xfrm>
            <a:off x="4846320" y="3557016"/>
            <a:ext cx="640080" cy="109728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1" name="Text 29"/>
          <p:cNvSpPr/>
          <p:nvPr/>
        </p:nvSpPr>
        <p:spPr>
          <a:xfrm>
            <a:off x="4846320" y="3557016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A5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77840" y="3666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Висновки та рекомендації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40325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Підсумок, пріоритети, наступні кроки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01  |  ЗАГАЛЬНА КАРТИНА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60350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822960"/>
            <a:ext cx="237744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6492240" y="822960"/>
            <a:ext cx="54864" cy="77724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/>
          <p:nvPr/>
        </p:nvSpPr>
        <p:spPr>
          <a:xfrm>
            <a:off x="6583680" y="8595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4A"/>
                </a:solidFill>
              </a:rPr>
              <a:t>~8 720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83680" y="1188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$ (pre-avg)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0" y="1371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Виручка/день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92240" y="1828800"/>
            <a:ext cx="237744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9"/>
          <p:cNvSpPr/>
          <p:nvPr/>
        </p:nvSpPr>
        <p:spPr>
          <a:xfrm>
            <a:off x="6492240" y="1828800"/>
            <a:ext cx="54864" cy="77724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3" name="Text 10"/>
          <p:cNvSpPr/>
          <p:nvPr/>
        </p:nvSpPr>
        <p:spPr>
          <a:xfrm>
            <a:off x="6583680" y="1865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4A"/>
                </a:solidFill>
              </a:rPr>
              <a:t>7 631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83680" y="2194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$ (post-avg)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0" y="2377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Після збою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492240" y="2834640"/>
            <a:ext cx="237744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4"/>
          <p:cNvSpPr/>
          <p:nvPr/>
        </p:nvSpPr>
        <p:spPr>
          <a:xfrm>
            <a:off x="6492240" y="28346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8" name="Text 15"/>
          <p:cNvSpPr/>
          <p:nvPr/>
        </p:nvSpPr>
        <p:spPr>
          <a:xfrm>
            <a:off x="6583680" y="2871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4A"/>
                </a:solidFill>
              </a:rPr>
              <a:t>63.1%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83680" y="32004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від усіх (весь period)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583680" y="3383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Успішні tx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492240" y="3840480"/>
            <a:ext cx="237744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19"/>
          <p:cNvSpPr/>
          <p:nvPr/>
        </p:nvSpPr>
        <p:spPr>
          <a:xfrm>
            <a:off x="6492240" y="384048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3" name="Text 20"/>
          <p:cNvSpPr/>
          <p:nvPr/>
        </p:nvSpPr>
        <p:spPr>
          <a:xfrm>
            <a:off x="6583680" y="3877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4A"/>
                </a:solidFill>
              </a:rPr>
              <a:t>~2 900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83680" y="4206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юзерів/день (pre)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83680" y="4389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Унік. юзери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Збій 16 травня чітко помітний: виручка та успішні транзакції різко знизились після цієї дати.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02  |  FAIL RATE ТА СТАТУС ТРАНЗАКЦІЙ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303520" cy="24231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754380"/>
            <a:ext cx="3319272" cy="25694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" y="3337560"/>
            <a:ext cx="2057400" cy="100584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Shape 4"/>
          <p:cNvSpPr/>
          <p:nvPr/>
        </p:nvSpPr>
        <p:spPr>
          <a:xfrm>
            <a:off x="182880" y="3337560"/>
            <a:ext cx="20574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9" name="Text 5"/>
          <p:cNvSpPr/>
          <p:nvPr/>
        </p:nvSpPr>
        <p:spPr>
          <a:xfrm>
            <a:off x="274320" y="3429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36.1%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274320" y="3950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Fail rate ДО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395728" y="3337560"/>
            <a:ext cx="2057400" cy="100584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8"/>
          <p:cNvSpPr/>
          <p:nvPr/>
        </p:nvSpPr>
        <p:spPr>
          <a:xfrm>
            <a:off x="2395728" y="3337560"/>
            <a:ext cx="2057400" cy="64008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3" name="Text 9"/>
          <p:cNvSpPr/>
          <p:nvPr/>
        </p:nvSpPr>
        <p:spPr>
          <a:xfrm>
            <a:off x="2487168" y="3429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40.3%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487168" y="3950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Fail rate ПІСЛЯ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08576" y="3337560"/>
            <a:ext cx="2057400" cy="100584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6" name="Shape 12"/>
          <p:cNvSpPr/>
          <p:nvPr/>
        </p:nvSpPr>
        <p:spPr>
          <a:xfrm>
            <a:off x="4608576" y="3337560"/>
            <a:ext cx="205740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7" name="Text 13"/>
          <p:cNvSpPr/>
          <p:nvPr/>
        </p:nvSpPr>
        <p:spPr>
          <a:xfrm>
            <a:off x="4700016" y="3429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+4.2pp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700016" y="3950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Дельта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821424" y="3337560"/>
            <a:ext cx="2057400" cy="100584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6"/>
          <p:cNvSpPr/>
          <p:nvPr/>
        </p:nvSpPr>
        <p:spPr>
          <a:xfrm>
            <a:off x="6821424" y="3337560"/>
            <a:ext cx="205740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1" name="Text 17"/>
          <p:cNvSpPr/>
          <p:nvPr/>
        </p:nvSpPr>
        <p:spPr>
          <a:xfrm>
            <a:off x="6912864" y="3429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1 933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912864" y="3950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'Зайво' failed tx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82880" y="448056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Після збою fail rate стрибнув з 36.1% до 40.3% — стабільно підвищений рівень протягом усього post-period.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03  |  ФАКТОР: СПЛІТ-ТЕСТ (з 15 березня)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76072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822960"/>
            <a:ext cx="2834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6080760" y="822960"/>
            <a:ext cx="50292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/>
          <p:nvPr/>
        </p:nvSpPr>
        <p:spPr>
          <a:xfrm>
            <a:off x="6080760" y="8229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↑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47688" y="8686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Група 1 краща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47688" y="11430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ARPU 3.14 vs 2.76 у Групі 0 — стабільна перевага протягом усього спліту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80760" y="1847088"/>
            <a:ext cx="2834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9"/>
          <p:cNvSpPr/>
          <p:nvPr/>
        </p:nvSpPr>
        <p:spPr>
          <a:xfrm>
            <a:off x="6080760" y="1847088"/>
            <a:ext cx="502920" cy="9144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3" name="Text 10"/>
          <p:cNvSpPr/>
          <p:nvPr/>
        </p:nvSpPr>
        <p:spPr>
          <a:xfrm>
            <a:off x="6080760" y="184708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≈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47688" y="189280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Розмір груп рівний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47688" y="216712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132 771 vs 133 357 юзерів — коректна рандомізація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80760" y="2871216"/>
            <a:ext cx="2834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4"/>
          <p:cNvSpPr/>
          <p:nvPr/>
        </p:nvSpPr>
        <p:spPr>
          <a:xfrm>
            <a:off x="6080760" y="2871216"/>
            <a:ext cx="502920" cy="91440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8" name="Text 15"/>
          <p:cNvSpPr/>
          <p:nvPr/>
        </p:nvSpPr>
        <p:spPr>
          <a:xfrm>
            <a:off x="6080760" y="287121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↓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647688" y="29169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Збій вдарив по обох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47688" y="319125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Обидві групи показали падіння після 16 травня — ефект збою не специфічний для жодної групи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80760" y="3895344"/>
            <a:ext cx="2834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19"/>
          <p:cNvSpPr/>
          <p:nvPr/>
        </p:nvSpPr>
        <p:spPr>
          <a:xfrm>
            <a:off x="6080760" y="3895344"/>
            <a:ext cx="50292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3" name="Text 20"/>
          <p:cNvSpPr/>
          <p:nvPr/>
        </p:nvSpPr>
        <p:spPr>
          <a:xfrm>
            <a:off x="6080760" y="389534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647688" y="394106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Спліт ≠ проблема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47688" y="421538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Спліт не погіршував загальну виручку; тест є позитивним фактором у базовому тренді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03  |  ФАКТОРИ: РЕЛІЗ OS + НОВІ ПЛАТІЖНІ ЮЗЕРИ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212080" cy="24231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291840"/>
            <a:ext cx="5212080" cy="1691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77840" y="777240"/>
            <a:ext cx="33832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Shape 4"/>
          <p:cNvSpPr/>
          <p:nvPr/>
        </p:nvSpPr>
        <p:spPr>
          <a:xfrm>
            <a:off x="5577840" y="777240"/>
            <a:ext cx="3383280" cy="54864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9" name="Text 5"/>
          <p:cNvSpPr/>
          <p:nvPr/>
        </p:nvSpPr>
        <p:spPr>
          <a:xfrm>
            <a:off x="5669280" y="841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🖥  Реліз OS (15 квітня)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669280" y="1143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OS v2 (домінантна) почала падати у виручці ще ДО збою 16 травня. Тренд вниз по OS v2 є самостійним фактором падіння.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577840" y="1965960"/>
            <a:ext cx="33832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8"/>
          <p:cNvSpPr/>
          <p:nvPr/>
        </p:nvSpPr>
        <p:spPr>
          <a:xfrm>
            <a:off x="5577840" y="1965960"/>
            <a:ext cx="3383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3" name="Text 9"/>
          <p:cNvSpPr/>
          <p:nvPr/>
        </p:nvSpPr>
        <p:spPr>
          <a:xfrm>
            <a:off x="566928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📧  Зміна логіки листів (квітень)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669280" y="2331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Нові платіжні юзери впали з ~1 800 → ~1 000/день після квітня. Це знизило потенційну виручку незалежно від збою.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577840" y="3154680"/>
            <a:ext cx="33832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6" name="Shape 12"/>
          <p:cNvSpPr/>
          <p:nvPr/>
        </p:nvSpPr>
        <p:spPr>
          <a:xfrm>
            <a:off x="5577840" y="3154680"/>
            <a:ext cx="3383280" cy="54864"/>
          </a:xfrm>
          <a:prstGeom prst="rect">
            <a:avLst/>
          </a:prstGeom>
          <a:solidFill>
            <a:srgbClr val="FF847C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7" name="Text 13"/>
          <p:cNvSpPr/>
          <p:nvPr/>
        </p:nvSpPr>
        <p:spPr>
          <a:xfrm>
            <a:off x="5669280" y="3218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👥  Скорочення команди (кінець березня)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66928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Менша команда підтримки → уповільнена реакція на технічні проблеми. Може опосередковано посилювати ефект збою.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82880" y="480060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Ці фактори пояснюють частину падіння, яке спостерігалось ДО або незалежно від збою 16 травня.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04  |  ОЦІНКА ВТРАТ — BASELINE МЕТОДИ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669280" cy="28346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703320"/>
          <a:ext cx="8778240" cy="1133856"/>
        </p:xfrm>
        <a:graphic>
          <a:graphicData uri="http://schemas.openxmlformats.org/drawingml/2006/table">
            <a:tbl>
              <a:tblPr/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Baseline (сума)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Факт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Розрив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Розрив 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</a:rPr>
                        <a:t>A — dow avg (нейтральний)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</a:rPr>
                        <a:t>139 494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</a:rPr>
                        <a:t>122 089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</a:rPr>
                        <a:t>17 406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</a:rPr>
                        <a:t>12.5%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</a:rPr>
                        <a:t>B — довгий тренд (завищений)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</a:rPr>
                        <a:t>156 406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</a:rPr>
                        <a:t>122 089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</a:rPr>
                        <a:t>34 318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</a:rPr>
                        <a:t>21.9%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</a:rPr>
                        <a:t>C — короткий тренд (реалістичний) ✓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</a:rPr>
                        <a:t>137 987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</a:rPr>
                        <a:t>122 089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</a:rPr>
                        <a:t>15 898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</a:rPr>
                        <a:t>11.5%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82880" y="3703320"/>
            <a:ext cx="8778240" cy="2743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18288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Метод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56032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Baseline (сума)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48056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Факт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85216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Розрив (абс)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40664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Розрив %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82880" y="3977640"/>
            <a:ext cx="8778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4" name="Text 10"/>
          <p:cNvSpPr/>
          <p:nvPr/>
        </p:nvSpPr>
        <p:spPr>
          <a:xfrm>
            <a:off x="182880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B2D"/>
                </a:solidFill>
              </a:rPr>
              <a:t>A — dow avg (нейтральний)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560320" y="3977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139 494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48056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122 089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52160" y="3977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17 406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406640" y="3977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12.5%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82880" y="4251960"/>
            <a:ext cx="8778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0" name="Text 16"/>
          <p:cNvSpPr/>
          <p:nvPr/>
        </p:nvSpPr>
        <p:spPr>
          <a:xfrm>
            <a:off x="182880" y="4251960"/>
            <a:ext cx="237744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B2D"/>
                </a:solidFill>
              </a:rPr>
              <a:t>B — довгий тренд (завищений ⚠)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60320" y="4251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156 406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48056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122 089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852160" y="4251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34 318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406640" y="4251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21.9%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82880" y="4526280"/>
            <a:ext cx="8778240" cy="25603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6" name="Text 22"/>
          <p:cNvSpPr/>
          <p:nvPr/>
        </p:nvSpPr>
        <p:spPr>
          <a:xfrm>
            <a:off x="182880" y="4526280"/>
            <a:ext cx="237744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E4A"/>
                </a:solidFill>
              </a:rPr>
              <a:t>C — короткий тренд (реалістичний ✓)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560320" y="4526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137 987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480560" y="4526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122 089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852160" y="4526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15 898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406640" y="4526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11.5%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04  |  ІЗОЛЯЦІЯ ЧИСТОГО ЕФЕКТУ ЗБОЮ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3035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822960"/>
            <a:ext cx="3246120" cy="192024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Text 4"/>
          <p:cNvSpPr/>
          <p:nvPr/>
        </p:nvSpPr>
        <p:spPr>
          <a:xfrm>
            <a:off x="5760720" y="868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Метод розрахунку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0" y="11887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Δ fail rate: </a:t>
            </a:r>
            <a:r>
              <a:rPr lang="en-US" sz="1000" b="1" dirty="0">
                <a:solidFill>
                  <a:srgbClr val="FF847C"/>
                </a:solidFill>
              </a:rPr>
              <a:t>+4.18pp
</a:t>
            </a:r>
            <a:r>
              <a:rPr lang="en-US" sz="1000" dirty="0">
                <a:solidFill>
                  <a:srgbClr val="CBD5E1"/>
                </a:solidFill>
              </a:rPr>
              <a:t>Зайві failed tx: </a:t>
            </a:r>
            <a:r>
              <a:rPr lang="en-US" sz="1000" b="1" dirty="0">
                <a:solidFill>
                  <a:srgbClr val="FF847C"/>
                </a:solidFill>
              </a:rPr>
              <a:t>1 933
</a:t>
            </a:r>
            <a:r>
              <a:rPr lang="en-US" sz="1000" dirty="0">
                <a:solidFill>
                  <a:srgbClr val="CBD5E1"/>
                </a:solidFill>
              </a:rPr>
              <a:t>Середній чек (pre): </a:t>
            </a:r>
            <a:r>
              <a:rPr lang="en-US" sz="1000" b="1" dirty="0">
                <a:solidFill>
                  <a:srgbClr val="FF847C"/>
                </a:solidFill>
              </a:rPr>
              <a:t>$4.69
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2880360"/>
            <a:ext cx="3246120" cy="960120"/>
          </a:xfrm>
          <a:prstGeom prst="rect">
            <a:avLst/>
          </a:prstGeom>
          <a:solidFill>
            <a:srgbClr val="E84A5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Text 7"/>
          <p:cNvSpPr/>
          <p:nvPr/>
        </p:nvSpPr>
        <p:spPr>
          <a:xfrm>
            <a:off x="5760720" y="2926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ЧИСТИЙ ЕФЕКТ ЗБОЮ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60720" y="3200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≈ $9 070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760720" y="35844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за 16 днів post-period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0" y="3931920"/>
            <a:ext cx="3246120" cy="9144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Text 11"/>
          <p:cNvSpPr/>
          <p:nvPr/>
        </p:nvSpPr>
        <p:spPr>
          <a:xfrm>
            <a:off x="5760720" y="3977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7.4% від post-виручки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~567 $/день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~1 041 $/день — загальні втрати (Baseline C)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847C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lain" startAt="5"/>
            </a:pPr>
            <a:r>
              <a:rPr lang="en-US" sz="1300" b="1" kern="0" spc="200" dirty="0">
                <a:solidFill>
                  <a:srgbClr val="FFFFFF"/>
                </a:solidFill>
              </a:rPr>
              <a:t>|  СЕГМЕНТНИЙ АНАЛІЗ</a:t>
            </a:r>
            <a:endParaRPr lang="uk-UA" sz="1300" b="1" kern="0" spc="200" dirty="0">
              <a:solidFill>
                <a:srgbClr val="FFFFFF"/>
              </a:solidFill>
            </a:endParaRPr>
          </a:p>
          <a:p>
            <a:r>
              <a:rPr lang="en-US" sz="1300" b="1" kern="0" spc="200" dirty="0">
                <a:solidFill>
                  <a:srgbClr val="FFFFFF"/>
                </a:solidFill>
              </a:rPr>
              <a:t> FAIL RATE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20395"/>
            <a:ext cx="2710843" cy="208349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768" y="0"/>
            <a:ext cx="5731022" cy="305937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" y="3090672"/>
            <a:ext cx="5303520" cy="2743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4"/>
          <p:cNvSpPr/>
          <p:nvPr/>
        </p:nvSpPr>
        <p:spPr>
          <a:xfrm>
            <a:off x="18288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Сегмент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828800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017520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206240" y="3090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Delta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82880" y="3364992"/>
            <a:ext cx="5303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3" name="Text 9"/>
          <p:cNvSpPr/>
          <p:nvPr/>
        </p:nvSpPr>
        <p:spPr>
          <a:xfrm>
            <a:off x="182880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OS v1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828800" y="33649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36.41%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017520" y="33649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41.34%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20624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+4.93pp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182880" y="3630168"/>
            <a:ext cx="5303520" cy="2560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8" name="Text 14"/>
          <p:cNvSpPr/>
          <p:nvPr/>
        </p:nvSpPr>
        <p:spPr>
          <a:xfrm>
            <a:off x="182880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OS v2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82880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36.12%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01752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40.55%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206240" y="3630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+4.43pp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82880" y="3895344"/>
            <a:ext cx="5303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3" name="Text 19"/>
          <p:cNvSpPr/>
          <p:nvPr/>
        </p:nvSpPr>
        <p:spPr>
          <a:xfrm>
            <a:off x="182880" y="3895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Organic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828800" y="3895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36.11%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017520" y="3895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41.50%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206240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+5.39pp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82880" y="4160520"/>
            <a:ext cx="5303520" cy="2560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8" name="Text 24"/>
          <p:cNvSpPr/>
          <p:nvPr/>
        </p:nvSpPr>
        <p:spPr>
          <a:xfrm>
            <a:off x="182880" y="4160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CPA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828800" y="4160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36.51%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3017520" y="4160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40.63%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4206240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+4.12pp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182880" y="4425696"/>
            <a:ext cx="5303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3" name="Text 29"/>
          <p:cNvSpPr/>
          <p:nvPr/>
        </p:nvSpPr>
        <p:spPr>
          <a:xfrm>
            <a:off x="182880" y="4425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US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828800" y="44256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36.29%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3017520" y="44256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40.54%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4206240" y="4425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+4.25pp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182880" y="4690872"/>
            <a:ext cx="5303520" cy="2560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8" name="Text 34"/>
          <p:cNvSpPr/>
          <p:nvPr/>
        </p:nvSpPr>
        <p:spPr>
          <a:xfrm>
            <a:off x="182880" y="4690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UK+CA+AU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1828800" y="4690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35.97%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3017520" y="4690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40.33%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4206240" y="4690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+4.36pp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5486400" y="3090672"/>
            <a:ext cx="3474720" cy="25603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3" name="Text 39"/>
          <p:cNvSpPr/>
          <p:nvPr/>
        </p:nvSpPr>
        <p:spPr>
          <a:xfrm>
            <a:off x="5486400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Тип картки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6675120" y="3090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7406640" y="3090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8138160" y="3090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Delta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5486400" y="3346704"/>
            <a:ext cx="3474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8" name="Text 44"/>
          <p:cNvSpPr/>
          <p:nvPr/>
        </p:nvSpPr>
        <p:spPr>
          <a:xfrm>
            <a:off x="5486400" y="33467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Mastercard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6675120" y="33467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35.85%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7406640" y="33467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40.08%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8138160" y="33467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+4.23pp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5486400" y="3593592"/>
            <a:ext cx="347472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53" name="Text 49"/>
          <p:cNvSpPr/>
          <p:nvPr/>
        </p:nvSpPr>
        <p:spPr>
          <a:xfrm>
            <a:off x="5486400" y="35935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Visa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6675120" y="35935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36.29%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7406640" y="35935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40.48%</a:t>
            </a:r>
            <a:endParaRPr lang="en-US" sz="850" dirty="0"/>
          </a:p>
        </p:txBody>
      </p:sp>
      <p:sp>
        <p:nvSpPr>
          <p:cNvPr id="56" name="Text 52"/>
          <p:cNvSpPr/>
          <p:nvPr/>
        </p:nvSpPr>
        <p:spPr>
          <a:xfrm>
            <a:off x="8138160" y="3593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+4.19pp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5486400" y="3840480"/>
            <a:ext cx="3474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58" name="Text 54"/>
          <p:cNvSpPr/>
          <p:nvPr/>
        </p:nvSpPr>
        <p:spPr>
          <a:xfrm>
            <a:off x="5486400" y="3840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Other</a:t>
            </a:r>
            <a:endParaRPr lang="en-US" sz="850" dirty="0"/>
          </a:p>
        </p:txBody>
      </p:sp>
      <p:sp>
        <p:nvSpPr>
          <p:cNvPr id="59" name="Text 55"/>
          <p:cNvSpPr/>
          <p:nvPr/>
        </p:nvSpPr>
        <p:spPr>
          <a:xfrm>
            <a:off x="6675120" y="38404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36.29%</a:t>
            </a:r>
            <a:endParaRPr lang="en-US" sz="850" dirty="0"/>
          </a:p>
        </p:txBody>
      </p:sp>
      <p:sp>
        <p:nvSpPr>
          <p:cNvPr id="60" name="Text 56"/>
          <p:cNvSpPr/>
          <p:nvPr/>
        </p:nvSpPr>
        <p:spPr>
          <a:xfrm>
            <a:off x="7406640" y="38404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B2D"/>
                </a:solidFill>
              </a:rPr>
              <a:t>39.84%</a:t>
            </a:r>
            <a:endParaRPr lang="en-US" sz="850" dirty="0"/>
          </a:p>
        </p:txBody>
      </p:sp>
      <p:sp>
        <p:nvSpPr>
          <p:cNvPr id="61" name="Text 57"/>
          <p:cNvSpPr/>
          <p:nvPr/>
        </p:nvSpPr>
        <p:spPr>
          <a:xfrm>
            <a:off x="8138160" y="38404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+3.55pp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5486400" y="3886200"/>
            <a:ext cx="3474720" cy="6217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3" name="Shape 59"/>
          <p:cNvSpPr/>
          <p:nvPr/>
        </p:nvSpPr>
        <p:spPr>
          <a:xfrm>
            <a:off x="5486400" y="3886200"/>
            <a:ext cx="54864" cy="62179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4" name="Text 60"/>
          <p:cNvSpPr/>
          <p:nvPr/>
        </p:nvSpPr>
        <p:spPr>
          <a:xfrm>
            <a:off x="5596128" y="392277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Платіжні системи не винні</a:t>
            </a:r>
            <a:endParaRPr lang="en-US" sz="1000" dirty="0"/>
          </a:p>
        </p:txBody>
      </p:sp>
      <p:sp>
        <p:nvSpPr>
          <p:cNvPr id="65" name="Text 61"/>
          <p:cNvSpPr/>
          <p:nvPr/>
        </p:nvSpPr>
        <p:spPr>
          <a:xfrm>
            <a:off x="5596128" y="418795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Mastercard і Visa: дельта +4.2pp — ідентична іншим сегментам. Проблема не в процесингу.</a:t>
            </a:r>
            <a:endParaRPr lang="en-US" sz="850" dirty="0"/>
          </a:p>
        </p:txBody>
      </p:sp>
      <p:sp>
        <p:nvSpPr>
          <p:cNvPr id="66" name="Text 62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Збій рівномірний по всіх сегментах: OS, канал, регіон, тип картки — підтверджує системну природу проблеми.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ХРОНОЛОГІЯ ПОДІЙ ТА ФАКТОРІВ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8046720" cy="4572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82880" cy="182880"/>
          </a:xfrm>
          <a:prstGeom prst="ellipse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0" cy="1554480"/>
          </a:xfrm>
          <a:prstGeom prst="line">
            <a:avLst/>
          </a:prstGeom>
          <a:noFill/>
          <a:ln w="12700">
            <a:solidFill>
              <a:srgbClr val="1E5FA8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91440" y="822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27 лют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1440" y="10241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5FA8"/>
                </a:solidFill>
              </a:rPr>
              <a:t>Початок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5FA8"/>
                </a:solidFill>
              </a:rPr>
              <a:t>аналізу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7400" y="278892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2148840" y="2971800"/>
            <a:ext cx="0" cy="137160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1508760" y="3493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Старт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спліт-тесту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886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15 бер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0" y="27889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3291840" y="1234440"/>
            <a:ext cx="0" cy="155448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2651760" y="822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кін. бер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51760" y="10241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</a:rPr>
              <a:t>Скорочення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</a:rPr>
              <a:t>команди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43400" y="27889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9" name="Shape 17"/>
          <p:cNvSpPr/>
          <p:nvPr/>
        </p:nvSpPr>
        <p:spPr>
          <a:xfrm>
            <a:off x="4434840" y="2971800"/>
            <a:ext cx="0" cy="1371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3794760" y="3493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</a:rPr>
              <a:t>Зміна логіки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</a:rPr>
              <a:t>листів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94760" y="3886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поч. квіт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0" y="2788920"/>
            <a:ext cx="182880" cy="182880"/>
          </a:xfrm>
          <a:prstGeom prst="ellipse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3" name="Shape 21"/>
          <p:cNvSpPr/>
          <p:nvPr/>
        </p:nvSpPr>
        <p:spPr>
          <a:xfrm>
            <a:off x="5577840" y="1234440"/>
            <a:ext cx="0" cy="1554480"/>
          </a:xfrm>
          <a:prstGeom prst="line">
            <a:avLst/>
          </a:prstGeom>
          <a:noFill/>
          <a:ln w="12700">
            <a:solidFill>
              <a:srgbClr val="1E5FA8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4937760" y="822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15 квіт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37760" y="10241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5FA8"/>
                </a:solidFill>
              </a:rPr>
              <a:t>Реліз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5FA8"/>
                </a:solidFill>
              </a:rPr>
              <a:t>нової 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75120" y="2788920"/>
            <a:ext cx="182880" cy="182880"/>
          </a:xfrm>
          <a:prstGeom prst="ellipse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7" name="Shape 25"/>
          <p:cNvSpPr/>
          <p:nvPr/>
        </p:nvSpPr>
        <p:spPr>
          <a:xfrm>
            <a:off x="6766560" y="2971800"/>
            <a:ext cx="0" cy="1371600"/>
          </a:xfrm>
          <a:prstGeom prst="line">
            <a:avLst/>
          </a:prstGeom>
          <a:noFill/>
          <a:ln w="12700">
            <a:solidFill>
              <a:srgbClr val="E84A5F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6126480" y="3493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4A5F"/>
                </a:solidFill>
              </a:rPr>
              <a:t>⚡ ЗБІЙ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26480" y="3886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16 трав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955280" y="278892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1" name="Shape 29"/>
          <p:cNvSpPr/>
          <p:nvPr/>
        </p:nvSpPr>
        <p:spPr>
          <a:xfrm>
            <a:off x="8046720" y="1234440"/>
            <a:ext cx="0" cy="1554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32" name="Text 30"/>
          <p:cNvSpPr/>
          <p:nvPr/>
        </p:nvSpPr>
        <p:spPr>
          <a:xfrm>
            <a:off x="7406640" y="822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чер 24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10241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Кінець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аналізу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64008" cy="59436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6" name="Text 34"/>
          <p:cNvSpPr/>
          <p:nvPr/>
        </p:nvSpPr>
        <p:spPr>
          <a:xfrm>
            <a:off x="502920" y="440740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Ключовий висновок: падіння виручки почалось ще до збою (OS-тренд, нові юзери). Збій 16 травня додав ~9 070 $ чистих втрат поверх вже існуючого негативного тренду.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04  |  ДЕКОМПОЗИЦІЯ ЗАГАЛЬНОГО ПАДІННЯ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1" y="932688"/>
            <a:ext cx="8025819" cy="2340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4290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Де лежать ~1 089 $/день падіння від pre- до post-period?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3794760"/>
            <a:ext cx="2788920" cy="11430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Shape 5"/>
          <p:cNvSpPr/>
          <p:nvPr/>
        </p:nvSpPr>
        <p:spPr>
          <a:xfrm>
            <a:off x="274320" y="3794760"/>
            <a:ext cx="2788920" cy="54864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274320" y="3858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5FA8"/>
                </a:solidFill>
              </a:rPr>
              <a:t>43%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~472/день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OS-тренд + нові юзери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(фонові фактори)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18688" y="3794760"/>
            <a:ext cx="2788920" cy="11430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Shape 10"/>
          <p:cNvSpPr/>
          <p:nvPr/>
        </p:nvSpPr>
        <p:spPr>
          <a:xfrm>
            <a:off x="3218688" y="3794760"/>
            <a:ext cx="2788920" cy="54864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4" name="Text 11"/>
          <p:cNvSpPr/>
          <p:nvPr/>
        </p:nvSpPr>
        <p:spPr>
          <a:xfrm>
            <a:off x="3218688" y="3858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4A5F"/>
                </a:solidFill>
              </a:rPr>
              <a:t>52%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133088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~567/день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33088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Збій 16 травня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(чистий ефект fail rate)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63056" y="3794760"/>
            <a:ext cx="2788920" cy="11430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Shape 15"/>
          <p:cNvSpPr/>
          <p:nvPr/>
        </p:nvSpPr>
        <p:spPr>
          <a:xfrm>
            <a:off x="6163056" y="3794760"/>
            <a:ext cx="2788920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9" name="Text 16"/>
          <p:cNvSpPr/>
          <p:nvPr/>
        </p:nvSpPr>
        <p:spPr>
          <a:xfrm>
            <a:off x="6163056" y="3858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</a:rPr>
              <a:t>5%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077456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~50/день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77456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Інші / нез'ясовані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фактори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74320" y="489204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* Розрахунок: Baseline C ($15,898 загальних втрат за 16 днів) vs чистий ефект збою ($9,070). Різниця $6,828 = фонові фактори.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</a:rPr>
              <a:t>06  |  ВИСНОВКИ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51960" cy="169164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02920" cy="169164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Збій підтверджений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39903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Fail rate стрибнув з 36.1% → 40.3% після 16 травня і залишається підвищеним. 1 933 транзакції 'зайво' провалились.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4251960" cy="169164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4800600" y="868680"/>
            <a:ext cx="502920" cy="1691640"/>
          </a:xfrm>
          <a:prstGeom prst="rect">
            <a:avLst/>
          </a:prstGeom>
          <a:solidFill>
            <a:srgbClr val="FF847C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4800600" y="8686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Чистий фінансовий ефект збою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39903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~9 070 $ за 16 днів post-period (≈ 567 $/день). Це 7.4% від фактичної post-виручки.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251960" cy="169164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502920" cy="1691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274320" y="27889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Збій — не єдина причина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1927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Фонові фактори (OS-тренд, падіння нових юзерів після зміни листів) відповідають за ~43% загального падіння.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788920"/>
            <a:ext cx="4251960" cy="169164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4800600" y="2788920"/>
            <a:ext cx="502920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4800600" y="27889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Загальні втрати post-period (Baseline 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31927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~$15,898–17,406 за 16 днів (~$994–1,088/день). З них ~9 070 — збій, решта — фонові фактори.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06  |  РЕКОМЕНДАЦІЇ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8892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88920" cy="32004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16128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Усунути технічний збій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645920"/>
            <a:ext cx="25786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0F1B2D"/>
                </a:solidFill>
              </a:rPr>
              <a:t>1. Провести root cause analysis — що спричинило стрибок fail rate 16 травня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0F1B2D"/>
                </a:solidFill>
              </a:rPr>
              <a:t>2. Повернути fail rate до baseline &lt;36.1% — кожен +1pp = ~2 170 $/день втрат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0F1B2D"/>
                </a:solidFill>
              </a:rPr>
              <a:t>3. Впровадити алерти на fail rate (поріг 37%+) для раннього виявлення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8892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78892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3246120" y="777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ВАЖЛИВО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55848" y="116128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Відновити приплив нових юзерів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5848" y="1645920"/>
            <a:ext cx="25786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0F1B2D"/>
                </a:solidFill>
              </a:rPr>
              <a:t>1. Перевірити/відкотити зміни логіки листів квітня — нові платіжні юзери впали вдвічі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0F1B2D"/>
                </a:solidFill>
              </a:rPr>
              <a:t>2. A/B тест нової vs старої логіки листів на малому сегменті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0F1B2D"/>
                </a:solidFill>
              </a:rPr>
              <a:t>3. Встановити KPI: нові платіжні юзери ≥1 400/день як мінімум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777240"/>
            <a:ext cx="278892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6" name="Shape 14"/>
          <p:cNvSpPr/>
          <p:nvPr/>
        </p:nvSpPr>
        <p:spPr>
          <a:xfrm>
            <a:off x="6217920" y="777240"/>
            <a:ext cx="278892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6217920" y="777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РЕКОМЕНДОВАНО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27648" y="116128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Монітори та процеси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27648" y="1645920"/>
            <a:ext cx="25786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0F1B2D"/>
                </a:solidFill>
              </a:rPr>
              <a:t>1. Завершити спліт-тест і впровадити Групу 1 (ARPU +$0.38) — потенціал +$20K/місяць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0F1B2D"/>
                </a:solidFill>
              </a:rPr>
              <a:t>2. Щоденний дашборд: виручка, fail rate, нові юзери — три ключові сигнали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0F1B2D"/>
                </a:solidFill>
              </a:rPr>
              <a:t>3. Post-outage retro: задокументувати таймлайн і превентивні заходи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D9488"/>
                </a:solidFill>
              </a:rPr>
              <a:t>ПІДСУМОК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Технічний збій 16 травня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спричинив ~9 070 $ прямих втрат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Але загальне падіння виручки (~$15,900) пояснюється комплексом факторів.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Основний пріоритет — усунути збій і відновити приплив нових платіжних юзерів.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383280"/>
            <a:ext cx="1828800" cy="14173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594360" y="3383280"/>
            <a:ext cx="1828800" cy="54864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594360" y="34564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4.18pp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Зростання fail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24328" y="3383280"/>
            <a:ext cx="1828800" cy="14173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2624328" y="3383280"/>
            <a:ext cx="1828800" cy="54864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2624328" y="34564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9 070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70048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Чисті втрати ($)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54296" y="3383280"/>
            <a:ext cx="1828800" cy="14173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4654296" y="3383280"/>
            <a:ext cx="1828800" cy="54864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4654296" y="34564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00016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Падіння від збою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84264" y="3383280"/>
            <a:ext cx="1828800" cy="14173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1" name="Shape 19"/>
          <p:cNvSpPr/>
          <p:nvPr/>
        </p:nvSpPr>
        <p:spPr>
          <a:xfrm>
            <a:off x="6684264" y="3383280"/>
            <a:ext cx="1828800" cy="54864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2" name="Text 20"/>
          <p:cNvSpPr/>
          <p:nvPr/>
        </p:nvSpPr>
        <p:spPr>
          <a:xfrm>
            <a:off x="6684264" y="34564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567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9984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Втрати на день ($)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1200</Words>
  <Application>Microsoft Office PowerPoint</Application>
  <PresentationFormat>On-screen Show (16:9)</PresentationFormat>
  <Paragraphs>271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Аналіз впливу технічного збою 16 травня 2024</dc:title>
  <dc:subject>PptxGenJS Presentation</dc:subject>
  <dc:creator>Аналітичний відділ</dc:creator>
  <cp:lastModifiedBy>Viktoriia Kazniienko</cp:lastModifiedBy>
  <cp:revision>3</cp:revision>
  <dcterms:created xsi:type="dcterms:W3CDTF">2026-05-23T13:07:00Z</dcterms:created>
  <dcterms:modified xsi:type="dcterms:W3CDTF">2026-05-23T14:03:02Z</dcterms:modified>
</cp:coreProperties>
</file>